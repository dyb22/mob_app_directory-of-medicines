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9" r:id="rId8"/>
    <p:sldId id="263" r:id="rId9"/>
    <p:sldId id="270" r:id="rId10"/>
    <p:sldId id="271" r:id="rId11"/>
    <p:sldId id="272" r:id="rId12"/>
    <p:sldId id="273" r:id="rId13"/>
    <p:sldId id="262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7E03C7-A49B-6BE9-ABBF-CAC7EE733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8523E63-B4F2-F28C-F7B1-C95203CCE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AA04BB-7968-2433-28BD-136E78D2E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A37AF-EE7D-48E6-B615-05CA01DA7F4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42E634-D27C-D2BC-22C8-55654095C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8A8740-61BE-E96A-A898-027229504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63540-0452-4190-A68A-3C92096839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4557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0DC8E0-BE4E-A15D-FF39-65C94AE04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E3F2EE-5F39-D87C-44DA-E53098D83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D2C6BB-CD33-A0FD-E4B3-B32A1686A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A37AF-EE7D-48E6-B615-05CA01DA7F4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EB92AB-84F9-BDEA-A330-4D9534CF1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651BA0-1969-1B73-FFF7-A55F8211D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63540-0452-4190-A68A-3C92096839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6175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C75752-DFDE-C566-86A5-0FF029B17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736B07-F7C0-6725-E88F-953AB15C9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DC5D34-C204-E0D7-7092-C9A9B2F50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A37AF-EE7D-48E6-B615-05CA01DA7F4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8FB2B4-0C83-50C1-ADAE-2B6CEDA69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24A231-3CD2-3600-7FE1-3D67DE64E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63540-0452-4190-A68A-3C92096839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356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A55E8D-8096-DA42-F9CA-908B43E74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EDCD60-6A1A-41F1-5437-2279D85B36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5477C8-7812-9DE9-5760-A6D397693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4F9E67-2D13-6534-4F46-36E3494A0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A37AF-EE7D-48E6-B615-05CA01DA7F4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B79DF2B-D017-DF3A-6202-81BC8DD6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A8D5E1-353F-346C-C928-993E1B0E5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63540-0452-4190-A68A-3C92096839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071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F0B5E0-BDD9-5A84-4A7D-17BE92F49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2ABDAC-FFCD-FEE3-7C94-AAE70F107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324C9AE-DEF4-3C57-911E-7E2E7E34C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2819546-613B-1A34-6860-DECA86FD08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CBC4408-CC1E-6272-EFD0-1B15B15C9E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3B3C85F-C255-0DE6-38A8-475ACF569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A37AF-EE7D-48E6-B615-05CA01DA7F4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93DB177-3C72-1D01-2637-F0237E227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EFBC88F-3D59-3AA5-B0E6-A88A3BDE9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63540-0452-4190-A68A-3C92096839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9198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BD2A05-8D1E-C21B-D3DC-898004D8F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6C75382-3B67-4A9A-538A-96748B2BB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A37AF-EE7D-48E6-B615-05CA01DA7F4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581E460-C4FD-77B3-8B28-2017F3201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81EA62F-9744-FA35-D847-0B4E9CC44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63540-0452-4190-A68A-3C92096839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890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6C6D353-7194-2B2C-1655-64FD7E52E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A37AF-EE7D-48E6-B615-05CA01DA7F4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6F4A15F-5144-2667-8629-F98A59E3F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02CA7-C393-D6F3-12F5-45844657D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63540-0452-4190-A68A-3C92096839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399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961915-290F-F4B3-EF50-E2FDE191D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FCD24D-7D87-A92C-8518-06DA17A43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111998-AA7D-5875-9005-3D861A65E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3CDB3BE-5D9C-B2DC-94EE-D703D1A5B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A37AF-EE7D-48E6-B615-05CA01DA7F4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BE27CBD-2C19-021B-75A0-05FD3BC7B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F1560F8-8928-B00B-08F1-4A14BD79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63540-0452-4190-A68A-3C92096839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1065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E4D715-D558-FA57-27BC-C7DAD36E0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5CEA255-D919-C284-B546-5050E66576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B1B8169-7E2B-F34B-6A7D-D3896B7D8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970BCB0-A2C8-37B8-3226-AC617EA5A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A37AF-EE7D-48E6-B615-05CA01DA7F4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D490F58-0165-10AD-98E6-608D01CC6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AA13A4-1EFD-B699-9FA7-5211994EF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63540-0452-4190-A68A-3C92096839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383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77D554-B570-2DEF-DF33-E42D7EF83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04F3C1B-D664-FDC3-48BB-870DDF7546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938FA4-DCBD-BD2F-2A7D-6AD492023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A37AF-EE7D-48E6-B615-05CA01DA7F4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8E25A6-B443-D8AB-6E27-A431211BF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611332-CD1A-C4D4-4A60-669A7327D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63540-0452-4190-A68A-3C92096839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2925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06A04D0-D9CD-EA54-45CA-6F34034296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59AC944-4127-6A5C-ABAB-317931D7B9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28E5CA-B9EC-E20E-1188-42A953E39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A37AF-EE7D-48E6-B615-05CA01DA7F4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96004E-4CA2-201F-8343-7589ADF83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64E2BB-DA99-F77A-84B3-41390DF7D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63540-0452-4190-A68A-3C92096839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047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66C692-5900-3500-A15B-F147D3D39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2A0BC3-64F4-59CB-B2C9-153086869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FCC864-02A3-3038-2E38-56516464E9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6A37AF-EE7D-48E6-B615-05CA01DA7F49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B19722-C48A-B960-3B31-43ED002E22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BC74B5-6655-EF01-9B5F-C01666F78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63540-0452-4190-A68A-3C92096839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809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001913-F690-38F6-CB5E-AD6EB58430D4}"/>
              </a:ext>
            </a:extLst>
          </p:cNvPr>
          <p:cNvSpPr txBox="1"/>
          <p:nvPr/>
        </p:nvSpPr>
        <p:spPr>
          <a:xfrm>
            <a:off x="381000" y="254000"/>
            <a:ext cx="1143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ru-RU" sz="3000" b="1" dirty="0"/>
              <a:t>Онлайн-справочник лекарств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AA803B-C3C7-18CE-E77D-BE328D4F90CC}"/>
              </a:ext>
            </a:extLst>
          </p:cNvPr>
          <p:cNvSpPr txBox="1"/>
          <p:nvPr/>
        </p:nvSpPr>
        <p:spPr>
          <a:xfrm>
            <a:off x="87549" y="989191"/>
            <a:ext cx="12188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Проект представляет собой мобильное </a:t>
            </a:r>
            <a:r>
              <a:rPr lang="ru-RU" dirty="0" err="1"/>
              <a:t>Android</a:t>
            </a:r>
            <a:r>
              <a:rPr lang="ru-RU" dirty="0"/>
              <a:t>-приложение для поиска и просмотра информации о лекарствах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811B65-C443-85A1-57D9-FF9DD70B7F07}"/>
              </a:ext>
            </a:extLst>
          </p:cNvPr>
          <p:cNvSpPr txBox="1"/>
          <p:nvPr/>
        </p:nvSpPr>
        <p:spPr>
          <a:xfrm>
            <a:off x="87549" y="1539716"/>
            <a:ext cx="116034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Основной функционал приложения: поиск лекарств,</a:t>
            </a:r>
            <a:r>
              <a:rPr lang="ru-RU" dirty="0"/>
              <a:t> просмотр</a:t>
            </a:r>
            <a:r>
              <a:rPr lang="ru-RU" sz="1800" dirty="0"/>
              <a:t> карточки препарата, </a:t>
            </a:r>
            <a:r>
              <a:rPr lang="ru-RU" dirty="0"/>
              <a:t>создание</a:t>
            </a:r>
            <a:r>
              <a:rPr lang="ru-RU" sz="1800" dirty="0"/>
              <a:t> закладок, просмотр истории поиска, </a:t>
            </a:r>
            <a:r>
              <a:rPr lang="ru-RU" sz="1800" dirty="0">
                <a:latin typeface="Segoe WPC"/>
              </a:rPr>
              <a:t>а</a:t>
            </a:r>
            <a:r>
              <a:rPr lang="ru-RU" i="0" dirty="0">
                <a:effectLst/>
                <a:latin typeface="Segoe WPC"/>
              </a:rPr>
              <a:t>вторизация и профиль пользователя</a:t>
            </a: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DA4676D-C887-FC6A-1544-1056357C440D}"/>
              </a:ext>
            </a:extLst>
          </p:cNvPr>
          <p:cNvSpPr/>
          <p:nvPr/>
        </p:nvSpPr>
        <p:spPr>
          <a:xfrm>
            <a:off x="226168" y="2186047"/>
            <a:ext cx="11739664" cy="4642334"/>
          </a:xfrm>
          <a:prstGeom prst="rect">
            <a:avLst/>
          </a:prstGeom>
          <a:solidFill>
            <a:srgbClr val="F0F0F0"/>
          </a:solidFill>
          <a:ln>
            <a:solidFill>
              <a:srgbClr val="7777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200" dirty="0"/>
          </a:p>
        </p:txBody>
      </p:sp>
      <p:pic>
        <p:nvPicPr>
          <p:cNvPr id="10" name="Рисунок 9" descr="Изображение выглядит как текст, снимок экрана, Шрифт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1752B3B-609E-C91B-C98E-B863318C9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10" y="2388834"/>
            <a:ext cx="1917843" cy="4261874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Шрифт, числ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9214E0E-B047-C9F7-AE2C-876100248F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094" y="2388834"/>
            <a:ext cx="1917843" cy="4261874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снимок экрана, Шрифт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FE56458-6441-7EF5-5BA6-686F93B6E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3209" y="2363720"/>
            <a:ext cx="1929144" cy="428698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F79EC0-FEFE-16CB-554E-0468297509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969" y="2376278"/>
            <a:ext cx="1929144" cy="428698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7BF8B2A-0D14-2CC4-1EB4-B7224DE0CC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6729" y="2329570"/>
            <a:ext cx="1929143" cy="428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23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B17F52-AB9D-34AB-3207-D03B7F5CAB97}"/>
              </a:ext>
            </a:extLst>
          </p:cNvPr>
          <p:cNvSpPr txBox="1"/>
          <p:nvPr/>
        </p:nvSpPr>
        <p:spPr>
          <a:xfrm>
            <a:off x="381000" y="254000"/>
            <a:ext cx="1143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ru-RU" sz="3000" b="1" dirty="0"/>
              <a:t>Архитектура приложения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DB1229-DCBA-C420-0202-37444FF0B479}"/>
              </a:ext>
            </a:extLst>
          </p:cNvPr>
          <p:cNvSpPr txBox="1"/>
          <p:nvPr/>
        </p:nvSpPr>
        <p:spPr>
          <a:xfrm>
            <a:off x="3217425" y="924399"/>
            <a:ext cx="7444091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000" dirty="0"/>
              <a:t>Модули: </a:t>
            </a:r>
            <a:r>
              <a:rPr lang="en-US" sz="2000" dirty="0"/>
              <a:t>app + domain + data (Clean Architecture)</a:t>
            </a:r>
          </a:p>
          <a:p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126EA72-EE6F-9F7A-C070-3C501FBB0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0505" y="1363976"/>
            <a:ext cx="4755205" cy="539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863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5FB2A1-D9AE-A690-2CEE-C2F8F751B943}"/>
              </a:ext>
            </a:extLst>
          </p:cNvPr>
          <p:cNvSpPr txBox="1"/>
          <p:nvPr/>
        </p:nvSpPr>
        <p:spPr>
          <a:xfrm>
            <a:off x="381000" y="254000"/>
            <a:ext cx="1143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ru-RU" sz="3000" b="1" dirty="0"/>
              <a:t>Стек технологий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3CB07D-02B9-D0D9-82C0-FCC807463819}"/>
              </a:ext>
            </a:extLst>
          </p:cNvPr>
          <p:cNvSpPr txBox="1"/>
          <p:nvPr/>
        </p:nvSpPr>
        <p:spPr>
          <a:xfrm>
            <a:off x="571500" y="1206500"/>
            <a:ext cx="10922000" cy="255454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000" dirty="0"/>
              <a:t>• Язык разработки: </a:t>
            </a:r>
            <a:r>
              <a:rPr lang="en-US" sz="2000" dirty="0"/>
              <a:t>Kotlin</a:t>
            </a:r>
          </a:p>
          <a:p>
            <a:r>
              <a:rPr lang="ru-RU" sz="2000" dirty="0"/>
              <a:t>• Среда разработки: </a:t>
            </a:r>
            <a:r>
              <a:rPr lang="en-US" sz="2000" dirty="0"/>
              <a:t>Android Studio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• </a:t>
            </a:r>
            <a:r>
              <a:rPr lang="ru-RU" sz="2000" dirty="0"/>
              <a:t>Репозитории: </a:t>
            </a:r>
            <a:r>
              <a:rPr lang="en-US" sz="2000" dirty="0" err="1"/>
              <a:t>Gitea</a:t>
            </a:r>
            <a:r>
              <a:rPr lang="en-US" sz="2000" dirty="0"/>
              <a:t> (</a:t>
            </a:r>
            <a:r>
              <a:rPr lang="ru-RU" sz="2000" dirty="0"/>
              <a:t>основной), </a:t>
            </a:r>
            <a:r>
              <a:rPr lang="en-US" sz="2000" dirty="0"/>
              <a:t>GitHub (</a:t>
            </a:r>
            <a:r>
              <a:rPr lang="ru-RU" sz="2000" dirty="0"/>
              <a:t>дополнительно)</a:t>
            </a:r>
          </a:p>
          <a:p>
            <a:r>
              <a:rPr lang="ru-RU" sz="2000" dirty="0"/>
              <a:t>• </a:t>
            </a:r>
            <a:r>
              <a:rPr lang="en-US" sz="2000" dirty="0"/>
              <a:t>CI: Drone + Drone Runner</a:t>
            </a:r>
          </a:p>
          <a:p>
            <a:r>
              <a:rPr lang="en-US" sz="2000" dirty="0"/>
              <a:t>• </a:t>
            </a:r>
            <a:r>
              <a:rPr lang="ru-RU" sz="2000" dirty="0"/>
              <a:t>Документация: </a:t>
            </a:r>
            <a:r>
              <a:rPr lang="en-US" sz="2000" dirty="0"/>
              <a:t>Wiki.js</a:t>
            </a:r>
          </a:p>
          <a:p>
            <a:r>
              <a:rPr lang="en-US" sz="2000" dirty="0"/>
              <a:t>• </a:t>
            </a:r>
            <a:r>
              <a:rPr lang="ru-RU" sz="2000" dirty="0"/>
              <a:t>Мониторинг: </a:t>
            </a:r>
            <a:r>
              <a:rPr lang="en-US" sz="2000" dirty="0"/>
              <a:t>Prometheus + Grafana</a:t>
            </a:r>
          </a:p>
          <a:p>
            <a:r>
              <a:rPr lang="en-US" sz="2000" dirty="0"/>
              <a:t>• </a:t>
            </a:r>
            <a:r>
              <a:rPr lang="ru-RU" sz="2000" dirty="0"/>
              <a:t>Инфраструктура: </a:t>
            </a:r>
            <a:r>
              <a:rPr lang="en-US" sz="2000" dirty="0"/>
              <a:t>Docker Compose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640928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B1E604-9681-1463-E833-694CC479BA24}"/>
              </a:ext>
            </a:extLst>
          </p:cNvPr>
          <p:cNvSpPr txBox="1"/>
          <p:nvPr/>
        </p:nvSpPr>
        <p:spPr>
          <a:xfrm>
            <a:off x="381000" y="254000"/>
            <a:ext cx="1143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ru-RU" sz="3000" b="1" dirty="0"/>
              <a:t>1. О проекте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3CEB00-837F-0479-473B-B99D0E374D9A}"/>
              </a:ext>
            </a:extLst>
          </p:cNvPr>
          <p:cNvSpPr txBox="1"/>
          <p:nvPr/>
        </p:nvSpPr>
        <p:spPr>
          <a:xfrm>
            <a:off x="571500" y="1206500"/>
            <a:ext cx="10922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000" dirty="0"/>
              <a:t>• Цель: мобильное </a:t>
            </a:r>
            <a:r>
              <a:rPr lang="ru-RU" sz="2000" dirty="0" err="1"/>
              <a:t>Android</a:t>
            </a:r>
            <a:r>
              <a:rPr lang="ru-RU" sz="2000" dirty="0"/>
              <a:t>-приложение для поиска и просмотра информации о лекарствах</a:t>
            </a:r>
          </a:p>
          <a:p>
            <a:r>
              <a:rPr lang="ru-RU" sz="2000" dirty="0"/>
              <a:t>• Основные функции: поиск, карточка препарата, закладки, история, профиль пользователя</a:t>
            </a:r>
          </a:p>
        </p:txBody>
      </p:sp>
    </p:spTree>
    <p:extLst>
      <p:ext uri="{BB962C8B-B14F-4D97-AF65-F5344CB8AC3E}">
        <p14:creationId xmlns:p14="http://schemas.microsoft.com/office/powerpoint/2010/main" val="4105955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A83C67-4BE7-B4B3-67EA-B1C0388DF6B9}"/>
              </a:ext>
            </a:extLst>
          </p:cNvPr>
          <p:cNvSpPr txBox="1"/>
          <p:nvPr/>
        </p:nvSpPr>
        <p:spPr>
          <a:xfrm>
            <a:off x="381000" y="254000"/>
            <a:ext cx="1143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3000" b="1"/>
              <a:t>4. Развёрнутая инфраструктура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71EAC6-B46E-4029-7163-F31EFDBD64C4}"/>
              </a:ext>
            </a:extLst>
          </p:cNvPr>
          <p:cNvSpPr txBox="1"/>
          <p:nvPr/>
        </p:nvSpPr>
        <p:spPr>
          <a:xfrm>
            <a:off x="571500" y="1206500"/>
            <a:ext cx="109220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/>
              <a:t>• Gitea: http://192.168.91.222:3000</a:t>
            </a:r>
          </a:p>
          <a:p>
            <a:r>
              <a:rPr lang="en-US" sz="2000"/>
              <a:t>• Wiki.js: http://192.168.91.222:3080</a:t>
            </a:r>
          </a:p>
          <a:p>
            <a:r>
              <a:rPr lang="en-US" sz="2000"/>
              <a:t>• Drone: http://192.168.91.222:9000</a:t>
            </a:r>
          </a:p>
          <a:p>
            <a:r>
              <a:rPr lang="en-US" sz="2000"/>
              <a:t>• Grafana: http://192.168.91.222:3001</a:t>
            </a:r>
          </a:p>
          <a:p>
            <a:r>
              <a:rPr lang="en-US" sz="2000"/>
              <a:t>• Prometheus: http://192.168.91.222:9090</a:t>
            </a:r>
          </a:p>
          <a:p>
            <a:r>
              <a:rPr lang="en-US" sz="2000"/>
              <a:t>• Git SSH: ssh://git@192.168.91.222:2222/st22_065/MOB_DIRECTORY.git</a:t>
            </a: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1325958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B2BC83-AA7D-31AA-1688-7E541B220C92}"/>
              </a:ext>
            </a:extLst>
          </p:cNvPr>
          <p:cNvSpPr txBox="1"/>
          <p:nvPr/>
        </p:nvSpPr>
        <p:spPr>
          <a:xfrm>
            <a:off x="381000" y="254000"/>
            <a:ext cx="1143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ru-RU" sz="3000" b="1" dirty="0"/>
              <a:t>Полный </a:t>
            </a:r>
            <a:r>
              <a:rPr lang="en-US" sz="3000" b="1" dirty="0"/>
              <a:t>DevOps-</a:t>
            </a:r>
            <a:r>
              <a:rPr lang="ru-RU" sz="3000" b="1" dirty="0"/>
              <a:t>цикл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37C646-61C3-0B43-186D-E04DD4638EFA}"/>
              </a:ext>
            </a:extLst>
          </p:cNvPr>
          <p:cNvSpPr txBox="1"/>
          <p:nvPr/>
        </p:nvSpPr>
        <p:spPr>
          <a:xfrm>
            <a:off x="571500" y="1206500"/>
            <a:ext cx="109220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000" dirty="0"/>
              <a:t>• 1) Планирование и документация в </a:t>
            </a:r>
            <a:r>
              <a:rPr lang="en-US" sz="2000" dirty="0"/>
              <a:t>Wiki.js</a:t>
            </a:r>
          </a:p>
          <a:p>
            <a:r>
              <a:rPr lang="en-US" sz="2000" dirty="0"/>
              <a:t>• 2) </a:t>
            </a:r>
            <a:r>
              <a:rPr lang="ru-RU" sz="2000" dirty="0"/>
              <a:t>Разработка в </a:t>
            </a:r>
            <a:r>
              <a:rPr lang="en-US" sz="2000" dirty="0"/>
              <a:t>Android Studio + Git</a:t>
            </a:r>
          </a:p>
          <a:p>
            <a:r>
              <a:rPr lang="en-US" sz="2000" dirty="0"/>
              <a:t>• 3) Push </a:t>
            </a:r>
            <a:r>
              <a:rPr lang="ru-RU" sz="2000" dirty="0"/>
              <a:t>в </a:t>
            </a:r>
            <a:r>
              <a:rPr lang="en-US" sz="2000" dirty="0" err="1"/>
              <a:t>Gitea</a:t>
            </a:r>
            <a:r>
              <a:rPr lang="en-US" sz="2000" dirty="0"/>
              <a:t> </a:t>
            </a:r>
            <a:r>
              <a:rPr lang="ru-RU" sz="2000" dirty="0"/>
              <a:t>и автоматический </a:t>
            </a:r>
            <a:r>
              <a:rPr lang="en-US" sz="2000" dirty="0"/>
              <a:t>webhook</a:t>
            </a:r>
          </a:p>
          <a:p>
            <a:r>
              <a:rPr lang="en-US" sz="2000" dirty="0"/>
              <a:t>• 4) CI-</a:t>
            </a:r>
            <a:r>
              <a:rPr lang="ru-RU" sz="2000" dirty="0"/>
              <a:t>проверки в </a:t>
            </a:r>
            <a:r>
              <a:rPr lang="en-US" sz="2000" dirty="0"/>
              <a:t>Drone </a:t>
            </a:r>
            <a:r>
              <a:rPr lang="ru-RU" sz="2000" dirty="0"/>
              <a:t>по .</a:t>
            </a:r>
            <a:r>
              <a:rPr lang="en-US" sz="2000" dirty="0" err="1"/>
              <a:t>drone.yml</a:t>
            </a:r>
            <a:endParaRPr lang="en-US" sz="2000" dirty="0"/>
          </a:p>
          <a:p>
            <a:r>
              <a:rPr lang="en-US" sz="2000" dirty="0"/>
              <a:t>• 5) </a:t>
            </a:r>
            <a:r>
              <a:rPr lang="ru-RU" sz="2000" dirty="0"/>
              <a:t>Мониторинг метрик в </a:t>
            </a:r>
            <a:r>
              <a:rPr lang="en-US" sz="2000" dirty="0"/>
              <a:t>Prometheus </a:t>
            </a:r>
            <a:r>
              <a:rPr lang="ru-RU" sz="2000" dirty="0"/>
              <a:t>и </a:t>
            </a:r>
            <a:r>
              <a:rPr lang="en-US" sz="2000" dirty="0"/>
              <a:t>Grafana</a:t>
            </a:r>
          </a:p>
          <a:p>
            <a:r>
              <a:rPr lang="en-US" sz="2000" dirty="0"/>
              <a:t>• 6) </a:t>
            </a:r>
            <a:r>
              <a:rPr lang="ru-RU" sz="2000" dirty="0"/>
              <a:t>Итеративные улучшения и повтор цикла</a:t>
            </a:r>
          </a:p>
        </p:txBody>
      </p:sp>
    </p:spTree>
    <p:extLst>
      <p:ext uri="{BB962C8B-B14F-4D97-AF65-F5344CB8AC3E}">
        <p14:creationId xmlns:p14="http://schemas.microsoft.com/office/powerpoint/2010/main" val="3351013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EA8A30-5B5A-2EB7-A015-AEC8FD2AF79D}"/>
              </a:ext>
            </a:extLst>
          </p:cNvPr>
          <p:cNvSpPr txBox="1"/>
          <p:nvPr/>
        </p:nvSpPr>
        <p:spPr>
          <a:xfrm>
            <a:off x="3033003" y="0"/>
            <a:ext cx="61259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/>
              <a:t>Полный </a:t>
            </a:r>
            <a:r>
              <a:rPr lang="en-US" sz="2800" b="1" dirty="0"/>
              <a:t>DevOps-</a:t>
            </a:r>
            <a:r>
              <a:rPr lang="ru-RU" sz="2800" b="1" dirty="0"/>
              <a:t>цикл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960B7B-242E-C50F-E871-813BFA6F7A41}"/>
              </a:ext>
            </a:extLst>
          </p:cNvPr>
          <p:cNvSpPr txBox="1"/>
          <p:nvPr/>
        </p:nvSpPr>
        <p:spPr>
          <a:xfrm>
            <a:off x="1410510" y="523220"/>
            <a:ext cx="9567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i="0" dirty="0">
                <a:effectLst/>
                <a:latin typeface="Segoe WPC"/>
              </a:rPr>
              <a:t>Для планирования и ведения документации проекта развернут сервис Wiki.js</a:t>
            </a:r>
            <a:endParaRPr lang="ru-RU" sz="2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3B3A2E-7363-3369-0FDE-C47175AFF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94" y="1126229"/>
            <a:ext cx="11136009" cy="536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099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EA8A30-5B5A-2EB7-A015-AEC8FD2AF79D}"/>
              </a:ext>
            </a:extLst>
          </p:cNvPr>
          <p:cNvSpPr txBox="1"/>
          <p:nvPr/>
        </p:nvSpPr>
        <p:spPr>
          <a:xfrm>
            <a:off x="3033003" y="0"/>
            <a:ext cx="61259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/>
              <a:t>Полный </a:t>
            </a:r>
            <a:r>
              <a:rPr lang="en-US" sz="2800" b="1" dirty="0"/>
              <a:t>DevOps-</a:t>
            </a:r>
            <a:r>
              <a:rPr lang="ru-RU" sz="2800" b="1" dirty="0"/>
              <a:t>цикл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EFD914A-E09A-F7AB-0951-D22745AB5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282563"/>
            <a:ext cx="10837345" cy="52057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6EB5DD6-584F-3322-7E42-346D499C0692}"/>
              </a:ext>
            </a:extLst>
          </p:cNvPr>
          <p:cNvSpPr txBox="1"/>
          <p:nvPr/>
        </p:nvSpPr>
        <p:spPr>
          <a:xfrm>
            <a:off x="1282930" y="718225"/>
            <a:ext cx="10334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i="0" dirty="0">
                <a:effectLst/>
                <a:latin typeface="Segoe WPC"/>
              </a:rPr>
              <a:t>Для планирования и ведения документации проекта развернут сервис Wiki.js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4140340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EA8A30-5B5A-2EB7-A015-AEC8FD2AF79D}"/>
              </a:ext>
            </a:extLst>
          </p:cNvPr>
          <p:cNvSpPr txBox="1"/>
          <p:nvPr/>
        </p:nvSpPr>
        <p:spPr>
          <a:xfrm>
            <a:off x="3033003" y="0"/>
            <a:ext cx="61259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/>
              <a:t>Полный </a:t>
            </a:r>
            <a:r>
              <a:rPr lang="en-US" sz="2800" b="1" dirty="0"/>
              <a:t>DevOps-</a:t>
            </a:r>
            <a:r>
              <a:rPr lang="ru-RU" sz="2800" b="1" dirty="0"/>
              <a:t>цикл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960B7B-242E-C50F-E871-813BFA6F7A41}"/>
              </a:ext>
            </a:extLst>
          </p:cNvPr>
          <p:cNvSpPr txBox="1"/>
          <p:nvPr/>
        </p:nvSpPr>
        <p:spPr>
          <a:xfrm>
            <a:off x="1004109" y="523220"/>
            <a:ext cx="10639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0" dirty="0">
                <a:effectLst/>
                <a:latin typeface="Segoe WPC"/>
              </a:rPr>
              <a:t>Для контроля версий в проекте развернут собственный локальный </a:t>
            </a:r>
            <a:r>
              <a:rPr lang="ru-RU" i="0" dirty="0" err="1">
                <a:effectLst/>
                <a:latin typeface="Segoe WPC"/>
              </a:rPr>
              <a:t>Git</a:t>
            </a:r>
            <a:r>
              <a:rPr lang="ru-RU" i="0" dirty="0">
                <a:effectLst/>
                <a:latin typeface="Segoe WPC"/>
              </a:rPr>
              <a:t>-сервер на базе </a:t>
            </a:r>
            <a:r>
              <a:rPr lang="ru-RU" i="0" dirty="0" err="1">
                <a:effectLst/>
                <a:latin typeface="Segoe WPC"/>
              </a:rPr>
              <a:t>Gitea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47911CD-D16B-0FD4-DE7B-00AEC3A39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75" y="1141060"/>
            <a:ext cx="11371634" cy="552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764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EA8A30-5B5A-2EB7-A015-AEC8FD2AF79D}"/>
              </a:ext>
            </a:extLst>
          </p:cNvPr>
          <p:cNvSpPr txBox="1"/>
          <p:nvPr/>
        </p:nvSpPr>
        <p:spPr>
          <a:xfrm>
            <a:off x="3033003" y="0"/>
            <a:ext cx="61259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/>
              <a:t>Полный </a:t>
            </a:r>
            <a:r>
              <a:rPr lang="en-US" sz="2800" b="1" dirty="0"/>
              <a:t>DevOps-</a:t>
            </a:r>
            <a:r>
              <a:rPr lang="ru-RU" sz="2800" b="1" dirty="0"/>
              <a:t>цикл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B49EBF-0D4D-6D4C-E6C4-A55392FBE211}"/>
              </a:ext>
            </a:extLst>
          </p:cNvPr>
          <p:cNvSpPr txBox="1"/>
          <p:nvPr/>
        </p:nvSpPr>
        <p:spPr>
          <a:xfrm>
            <a:off x="2383276" y="523220"/>
            <a:ext cx="11371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0" dirty="0">
                <a:effectLst/>
                <a:latin typeface="Segoe WPC"/>
              </a:rPr>
              <a:t>Для автоматизации сборки и проверок в проекте развернут </a:t>
            </a:r>
            <a:r>
              <a:rPr lang="ru-RU" i="0" dirty="0" err="1">
                <a:effectLst/>
                <a:latin typeface="Segoe WPC"/>
              </a:rPr>
              <a:t>Drone</a:t>
            </a:r>
            <a:r>
              <a:rPr lang="ru-RU" i="0" dirty="0">
                <a:effectLst/>
                <a:latin typeface="Segoe WPC"/>
              </a:rPr>
              <a:t> CI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5939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EA8A30-5B5A-2EB7-A015-AEC8FD2AF79D}"/>
              </a:ext>
            </a:extLst>
          </p:cNvPr>
          <p:cNvSpPr txBox="1"/>
          <p:nvPr/>
        </p:nvSpPr>
        <p:spPr>
          <a:xfrm>
            <a:off x="3033003" y="0"/>
            <a:ext cx="61259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/>
              <a:t>Полный </a:t>
            </a:r>
            <a:r>
              <a:rPr lang="en-US" sz="2800" b="1" dirty="0"/>
              <a:t>DevOps-</a:t>
            </a:r>
            <a:r>
              <a:rPr lang="ru-RU" sz="2800" b="1" dirty="0"/>
              <a:t>цикл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B49EBF-0D4D-6D4C-E6C4-A55392FBE211}"/>
              </a:ext>
            </a:extLst>
          </p:cNvPr>
          <p:cNvSpPr txBox="1"/>
          <p:nvPr/>
        </p:nvSpPr>
        <p:spPr>
          <a:xfrm>
            <a:off x="2383276" y="523220"/>
            <a:ext cx="11371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0" dirty="0">
                <a:effectLst/>
                <a:latin typeface="Segoe WPC"/>
              </a:rPr>
              <a:t>Для автоматизации сборки и проверок в проекте развернут </a:t>
            </a:r>
            <a:r>
              <a:rPr lang="ru-RU" i="0" dirty="0" err="1">
                <a:effectLst/>
                <a:latin typeface="Segoe WPC"/>
              </a:rPr>
              <a:t>Drone</a:t>
            </a:r>
            <a:r>
              <a:rPr lang="ru-RU" i="0" dirty="0">
                <a:effectLst/>
                <a:latin typeface="Segoe WPC"/>
              </a:rPr>
              <a:t> CI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1091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EA8A30-5B5A-2EB7-A015-AEC8FD2AF79D}"/>
              </a:ext>
            </a:extLst>
          </p:cNvPr>
          <p:cNvSpPr txBox="1"/>
          <p:nvPr/>
        </p:nvSpPr>
        <p:spPr>
          <a:xfrm>
            <a:off x="3033003" y="0"/>
            <a:ext cx="61259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/>
              <a:t>Полный </a:t>
            </a:r>
            <a:r>
              <a:rPr lang="en-US" sz="2800" b="1" dirty="0"/>
              <a:t>DevOps-</a:t>
            </a:r>
            <a:r>
              <a:rPr lang="ru-RU" sz="2800" b="1" dirty="0"/>
              <a:t>цикл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B49EBF-0D4D-6D4C-E6C4-A55392FBE211}"/>
              </a:ext>
            </a:extLst>
          </p:cNvPr>
          <p:cNvSpPr txBox="1"/>
          <p:nvPr/>
        </p:nvSpPr>
        <p:spPr>
          <a:xfrm>
            <a:off x="223736" y="523220"/>
            <a:ext cx="119682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0" dirty="0">
                <a:effectLst/>
                <a:latin typeface="Segoe WPC"/>
              </a:rPr>
              <a:t>Для мониторинга состояния сервисов и визуализации метрик в проекте развернута </a:t>
            </a:r>
            <a:r>
              <a:rPr lang="ru-RU" i="0" dirty="0" err="1">
                <a:effectLst/>
                <a:latin typeface="Segoe WPC"/>
              </a:rPr>
              <a:t>Grafana</a:t>
            </a:r>
            <a:r>
              <a:rPr lang="ru-RU" i="0" dirty="0">
                <a:effectLst/>
                <a:latin typeface="Segoe WPC"/>
              </a:rPr>
              <a:t>, подключенная к </a:t>
            </a:r>
            <a:r>
              <a:rPr lang="ru-RU" i="0" dirty="0" err="1">
                <a:effectLst/>
                <a:latin typeface="Segoe WPC"/>
              </a:rPr>
              <a:t>Prometheus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5908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C0C24B-0B8C-591B-8EA8-A231424B2754}"/>
              </a:ext>
            </a:extLst>
          </p:cNvPr>
          <p:cNvSpPr txBox="1"/>
          <p:nvPr/>
        </p:nvSpPr>
        <p:spPr>
          <a:xfrm>
            <a:off x="381000" y="254000"/>
            <a:ext cx="1143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3000" b="1"/>
              <a:t>6. Что проверяет CI (Drone)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CAAE14-2262-E3C7-0C05-1B1A8798A50D}"/>
              </a:ext>
            </a:extLst>
          </p:cNvPr>
          <p:cNvSpPr txBox="1"/>
          <p:nvPr/>
        </p:nvSpPr>
        <p:spPr>
          <a:xfrm>
            <a:off x="571500" y="1206500"/>
            <a:ext cx="10922000" cy="16312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dirty="0"/>
              <a:t>• repo-sanity: </a:t>
            </a:r>
            <a:r>
              <a:rPr lang="ru-RU" sz="2000" dirty="0"/>
              <a:t>структура репозитория и ключевые файлы</a:t>
            </a:r>
          </a:p>
          <a:p>
            <a:r>
              <a:rPr lang="ru-RU" sz="2000" dirty="0"/>
              <a:t>• </a:t>
            </a:r>
            <a:r>
              <a:rPr lang="en-US" sz="2000" dirty="0"/>
              <a:t>security check: infra/.env </a:t>
            </a:r>
            <a:r>
              <a:rPr lang="ru-RU" sz="2000" dirty="0"/>
              <a:t>не должен попасть в </a:t>
            </a:r>
            <a:r>
              <a:rPr lang="en-US" sz="2000" dirty="0"/>
              <a:t>Git</a:t>
            </a:r>
          </a:p>
          <a:p>
            <a:r>
              <a:rPr lang="en-US" sz="2000" dirty="0"/>
              <a:t>• validate-drone-</a:t>
            </a:r>
            <a:r>
              <a:rPr lang="en-US" sz="2000" dirty="0" err="1"/>
              <a:t>yaml</a:t>
            </a:r>
            <a:r>
              <a:rPr lang="en-US" sz="2000" dirty="0"/>
              <a:t>: </a:t>
            </a:r>
            <a:r>
              <a:rPr lang="ru-RU" sz="2000" dirty="0"/>
              <a:t>синтаксис .</a:t>
            </a:r>
            <a:r>
              <a:rPr lang="en-US" sz="2000" dirty="0" err="1"/>
              <a:t>drone.yml</a:t>
            </a:r>
            <a:endParaRPr lang="en-US" sz="2000" dirty="0"/>
          </a:p>
          <a:p>
            <a:r>
              <a:rPr lang="en-US" sz="2000" dirty="0"/>
              <a:t>• </a:t>
            </a:r>
            <a:r>
              <a:rPr lang="en-US" sz="2000" dirty="0" err="1"/>
              <a:t>gradle</a:t>
            </a:r>
            <a:r>
              <a:rPr lang="en-US" sz="2000" dirty="0"/>
              <a:t>-wrapper-smoke: </a:t>
            </a:r>
            <a:r>
              <a:rPr lang="ru-RU" sz="2000" dirty="0"/>
              <a:t>запуск </a:t>
            </a:r>
            <a:r>
              <a:rPr lang="en-US" sz="2000" dirty="0"/>
              <a:t>Gradle Wrapper</a:t>
            </a:r>
          </a:p>
          <a:p>
            <a:r>
              <a:rPr lang="en-US" sz="2000" dirty="0"/>
              <a:t>• </a:t>
            </a:r>
            <a:r>
              <a:rPr lang="ru-RU" sz="2000" dirty="0"/>
              <a:t>Результат: успешный </a:t>
            </a:r>
            <a:r>
              <a:rPr lang="en-US" sz="2000" dirty="0"/>
              <a:t>pipeline </a:t>
            </a:r>
            <a:r>
              <a:rPr lang="ru-RU" sz="2000" dirty="0"/>
              <a:t>после </a:t>
            </a:r>
            <a:r>
              <a:rPr lang="en-US" sz="2000" dirty="0"/>
              <a:t>push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286114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579DF0-B789-7242-585E-11DFD3664807}"/>
              </a:ext>
            </a:extLst>
          </p:cNvPr>
          <p:cNvSpPr txBox="1"/>
          <p:nvPr/>
        </p:nvSpPr>
        <p:spPr>
          <a:xfrm>
            <a:off x="381000" y="254000"/>
            <a:ext cx="1143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3000" b="1"/>
              <a:t>8. Скриншот: </a:t>
            </a:r>
            <a:r>
              <a:rPr lang="en-US" sz="3000" b="1"/>
              <a:t>Drone CI</a:t>
            </a:r>
            <a:endParaRPr lang="ru-RU" sz="3000" b="1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CFF4BA3-6C39-18A4-23D6-DDDC71F6B1E5}"/>
              </a:ext>
            </a:extLst>
          </p:cNvPr>
          <p:cNvSpPr/>
          <p:nvPr/>
        </p:nvSpPr>
        <p:spPr>
          <a:xfrm>
            <a:off x="508000" y="1270000"/>
            <a:ext cx="11049000" cy="4826000"/>
          </a:xfrm>
          <a:prstGeom prst="rect">
            <a:avLst/>
          </a:prstGeom>
          <a:solidFill>
            <a:srgbClr val="F0F0F0"/>
          </a:solidFill>
          <a:ln>
            <a:solidFill>
              <a:srgbClr val="7777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/>
              <a:t>[ВСТАВИТЬ СКРИНШОТ]</a:t>
            </a:r>
          </a:p>
          <a:p>
            <a:pPr algn="ctr"/>
            <a:r>
              <a:rPr lang="ru-RU" sz="2200"/>
              <a:t>Вкладка Builds + детали успешной сборки</a:t>
            </a:r>
          </a:p>
        </p:txBody>
      </p:sp>
    </p:spTree>
    <p:extLst>
      <p:ext uri="{BB962C8B-B14F-4D97-AF65-F5344CB8AC3E}">
        <p14:creationId xmlns:p14="http://schemas.microsoft.com/office/powerpoint/2010/main" val="1824517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E43243-D51D-5B53-7D27-9234BBA26C70}"/>
              </a:ext>
            </a:extLst>
          </p:cNvPr>
          <p:cNvSpPr txBox="1"/>
          <p:nvPr/>
        </p:nvSpPr>
        <p:spPr>
          <a:xfrm>
            <a:off x="381000" y="254000"/>
            <a:ext cx="1143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3000" b="1"/>
              <a:t>9. Скриншот: </a:t>
            </a:r>
            <a:r>
              <a:rPr lang="en-US" sz="3000" b="1"/>
              <a:t>Wiki.js</a:t>
            </a:r>
            <a:endParaRPr lang="ru-RU" sz="3000" b="1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D7D00ED-5DE4-FB8E-0977-4B03DE6AFBB9}"/>
              </a:ext>
            </a:extLst>
          </p:cNvPr>
          <p:cNvSpPr/>
          <p:nvPr/>
        </p:nvSpPr>
        <p:spPr>
          <a:xfrm>
            <a:off x="508000" y="1270000"/>
            <a:ext cx="11049000" cy="4826000"/>
          </a:xfrm>
          <a:prstGeom prst="rect">
            <a:avLst/>
          </a:prstGeom>
          <a:solidFill>
            <a:srgbClr val="F0F0F0"/>
          </a:solidFill>
          <a:ln>
            <a:solidFill>
              <a:srgbClr val="7777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/>
              <a:t>[ВСТАВИТЬ СКРИНШОТ]</a:t>
            </a:r>
          </a:p>
          <a:p>
            <a:pPr algn="ctr"/>
            <a:r>
              <a:rPr lang="ru-RU" sz="2200"/>
              <a:t>Страница документации проекта и DevOps-цикла</a:t>
            </a:r>
          </a:p>
        </p:txBody>
      </p:sp>
    </p:spTree>
    <p:extLst>
      <p:ext uri="{BB962C8B-B14F-4D97-AF65-F5344CB8AC3E}">
        <p14:creationId xmlns:p14="http://schemas.microsoft.com/office/powerpoint/2010/main" val="3952381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EDA9B9-6E15-8CFB-BEAF-9F58966397D5}"/>
              </a:ext>
            </a:extLst>
          </p:cNvPr>
          <p:cNvSpPr txBox="1"/>
          <p:nvPr/>
        </p:nvSpPr>
        <p:spPr>
          <a:xfrm>
            <a:off x="381000" y="254000"/>
            <a:ext cx="1143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3000" b="1"/>
              <a:t>10. Скриншот: </a:t>
            </a:r>
            <a:r>
              <a:rPr lang="en-US" sz="3000" b="1"/>
              <a:t>Grafana</a:t>
            </a:r>
            <a:endParaRPr lang="ru-RU" sz="3000" b="1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96A79A2-F968-1355-2A24-7CE832147184}"/>
              </a:ext>
            </a:extLst>
          </p:cNvPr>
          <p:cNvSpPr/>
          <p:nvPr/>
        </p:nvSpPr>
        <p:spPr>
          <a:xfrm>
            <a:off x="508000" y="1270000"/>
            <a:ext cx="11049000" cy="4826000"/>
          </a:xfrm>
          <a:prstGeom prst="rect">
            <a:avLst/>
          </a:prstGeom>
          <a:solidFill>
            <a:srgbClr val="F0F0F0"/>
          </a:solidFill>
          <a:ln>
            <a:solidFill>
              <a:srgbClr val="7777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/>
              <a:t>[ВСТАВИТЬ СКРИНШОТ]</a:t>
            </a:r>
          </a:p>
          <a:p>
            <a:pPr algn="ctr"/>
            <a:r>
              <a:rPr lang="en-US" sz="2200"/>
              <a:t>Prometheus Data Source (Save &amp; Test) </a:t>
            </a:r>
            <a:r>
              <a:rPr lang="ru-RU" sz="2200"/>
              <a:t>и </a:t>
            </a:r>
            <a:r>
              <a:rPr lang="en-US" sz="2200"/>
              <a:t>Explore/</a:t>
            </a:r>
            <a:r>
              <a:rPr lang="ru-RU" sz="2200"/>
              <a:t>дашборд</a:t>
            </a:r>
          </a:p>
        </p:txBody>
      </p:sp>
    </p:spTree>
    <p:extLst>
      <p:ext uri="{BB962C8B-B14F-4D97-AF65-F5344CB8AC3E}">
        <p14:creationId xmlns:p14="http://schemas.microsoft.com/office/powerpoint/2010/main" val="4161249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7B4AC0-7C3B-DBE6-20DB-E97CA5FEA21E}"/>
              </a:ext>
            </a:extLst>
          </p:cNvPr>
          <p:cNvSpPr txBox="1"/>
          <p:nvPr/>
        </p:nvSpPr>
        <p:spPr>
          <a:xfrm>
            <a:off x="381000" y="254000"/>
            <a:ext cx="1143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3000" b="1"/>
              <a:t>11. Базовые метрики мониторинга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98527F-D91D-2746-61DA-15DC9489862D}"/>
              </a:ext>
            </a:extLst>
          </p:cNvPr>
          <p:cNvSpPr txBox="1"/>
          <p:nvPr/>
        </p:nvSpPr>
        <p:spPr>
          <a:xfrm>
            <a:off x="571500" y="1206500"/>
            <a:ext cx="10922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/>
              <a:t>• up — </a:t>
            </a:r>
            <a:r>
              <a:rPr lang="ru-RU" sz="2000"/>
              <a:t>доступность целей мониторинга</a:t>
            </a:r>
          </a:p>
          <a:p>
            <a:r>
              <a:rPr lang="ru-RU" sz="2000"/>
              <a:t>• </a:t>
            </a:r>
            <a:r>
              <a:rPr lang="en-US" sz="2000"/>
              <a:t>process_resident_memory_bytes — </a:t>
            </a:r>
            <a:r>
              <a:rPr lang="ru-RU" sz="2000"/>
              <a:t>память процесса </a:t>
            </a:r>
            <a:r>
              <a:rPr lang="en-US" sz="2000"/>
              <a:t>Prometheus</a:t>
            </a:r>
          </a:p>
          <a:p>
            <a:r>
              <a:rPr lang="en-US" sz="2000"/>
              <a:t>• rate(process_cpu_seconds_total[1m]) — </a:t>
            </a:r>
            <a:r>
              <a:rPr lang="ru-RU" sz="2000"/>
              <a:t>активность </a:t>
            </a:r>
            <a:r>
              <a:rPr lang="en-US" sz="2000"/>
              <a:t>CPU</a:t>
            </a:r>
          </a:p>
          <a:p>
            <a:r>
              <a:rPr lang="en-US" sz="2000"/>
              <a:t>• rate(prometheus_tsdb_head_samples_appended_total[5m]) — </a:t>
            </a:r>
            <a:r>
              <a:rPr lang="ru-RU" sz="2000"/>
              <a:t>скорость приёма метрик</a:t>
            </a:r>
          </a:p>
        </p:txBody>
      </p:sp>
    </p:spTree>
    <p:extLst>
      <p:ext uri="{BB962C8B-B14F-4D97-AF65-F5344CB8AC3E}">
        <p14:creationId xmlns:p14="http://schemas.microsoft.com/office/powerpoint/2010/main" val="3951558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BBFBEB-D3BE-CC7C-D074-AEF24425778F}"/>
              </a:ext>
            </a:extLst>
          </p:cNvPr>
          <p:cNvSpPr txBox="1"/>
          <p:nvPr/>
        </p:nvSpPr>
        <p:spPr>
          <a:xfrm>
            <a:off x="381000" y="254000"/>
            <a:ext cx="1143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3000" b="1"/>
              <a:t>12. Итоги и дальнейшие шаги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AEBD9F-B522-2ACA-8DF5-0C2946673197}"/>
              </a:ext>
            </a:extLst>
          </p:cNvPr>
          <p:cNvSpPr txBox="1"/>
          <p:nvPr/>
        </p:nvSpPr>
        <p:spPr>
          <a:xfrm>
            <a:off x="571500" y="1206500"/>
            <a:ext cx="10922000" cy="132343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000"/>
              <a:t>• Стенд Wiki + Gitea + Drone + Grafana + Prometheus развёрнут и работает</a:t>
            </a:r>
          </a:p>
          <a:p>
            <a:r>
              <a:rPr lang="ru-RU" sz="2000"/>
              <a:t>• CI и webhook-интеграция подтверждены успешными сборками</a:t>
            </a:r>
          </a:p>
          <a:p>
            <a:r>
              <a:rPr lang="ru-RU" sz="2000"/>
              <a:t>• Мониторинг подключён и проверен на базовых метриках</a:t>
            </a:r>
          </a:p>
          <a:p>
            <a:r>
              <a:rPr lang="ru-RU" sz="2000"/>
              <a:t>• Дальше: усиление CI и развитие функциональности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30460578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536</Words>
  <Application>Microsoft Office PowerPoint</Application>
  <PresentationFormat>Широкоэкранный</PresentationFormat>
  <Paragraphs>66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Segoe WPC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agusha a</dc:creator>
  <cp:lastModifiedBy>agusha a</cp:lastModifiedBy>
  <cp:revision>3</cp:revision>
  <dcterms:created xsi:type="dcterms:W3CDTF">2026-05-05T13:14:33Z</dcterms:created>
  <dcterms:modified xsi:type="dcterms:W3CDTF">2026-05-05T13:55:27Z</dcterms:modified>
</cp:coreProperties>
</file>